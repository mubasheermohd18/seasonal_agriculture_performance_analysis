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3"/>
  </p:notesMasterIdLst>
  <p:handoutMasterIdLst>
    <p:handoutMasterId r:id="rId24"/>
  </p:handoutMasterIdLst>
  <p:sldIdLst>
    <p:sldId id="338" r:id="rId5"/>
    <p:sldId id="327" r:id="rId6"/>
    <p:sldId id="315" r:id="rId7"/>
    <p:sldId id="329" r:id="rId8"/>
    <p:sldId id="302" r:id="rId9"/>
    <p:sldId id="344" r:id="rId10"/>
    <p:sldId id="345" r:id="rId11"/>
    <p:sldId id="346" r:id="rId12"/>
    <p:sldId id="347" r:id="rId13"/>
    <p:sldId id="348" r:id="rId14"/>
    <p:sldId id="349" r:id="rId15"/>
    <p:sldId id="350" r:id="rId16"/>
    <p:sldId id="351" r:id="rId17"/>
    <p:sldId id="352" r:id="rId18"/>
    <p:sldId id="341" r:id="rId19"/>
    <p:sldId id="342" r:id="rId20"/>
    <p:sldId id="34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79" d="100"/>
          <a:sy n="79" d="100"/>
        </p:scale>
        <p:origin x="108" y="-13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599696" y="3687752"/>
            <a:ext cx="6518761" cy="861497"/>
          </a:xfrm>
        </p:spPr>
        <p:txBody>
          <a:bodyPr vert="horz" lIns="91440" tIns="45720" rIns="91440" bIns="45720" rtlCol="0" anchor="t">
            <a:normAutofit fontScale="85000" lnSpcReduction="10000"/>
          </a:bodyPr>
          <a:lstStyle/>
          <a:p>
            <a:pPr algn="r"/>
            <a:r>
              <a:rPr lang="en-US" b="0" dirty="0">
                <a:solidFill>
                  <a:schemeClr val="tx1"/>
                </a:solidFill>
              </a:rPr>
              <a:t>Student Name: Mohammed Mubasheeruddin</a:t>
            </a:r>
          </a:p>
          <a:p>
            <a:pPr algn="r"/>
            <a:r>
              <a:rPr lang="en-US" b="0" dirty="0">
                <a:solidFill>
                  <a:schemeClr val="tx1"/>
                </a:solidFill>
              </a:rPr>
              <a:t>College Name: Kakatiya institute of technology and science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68565" y="2798524"/>
            <a:ext cx="11055088" cy="743448"/>
          </a:xfrm>
        </p:spPr>
        <p:txBody>
          <a:bodyPr>
            <a:normAutofit/>
          </a:bodyPr>
          <a:lstStyle/>
          <a:p>
            <a:r>
              <a:rPr lang="en-GB" sz="3200" dirty="0"/>
              <a:t>Project Title - </a:t>
            </a:r>
            <a:r>
              <a:rPr lang="en-GB" sz="3200" dirty="0" err="1"/>
              <a:t>Seasonal_Agriculture_Performance_Analysis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322314" y="4859691"/>
            <a:ext cx="6819040" cy="369332"/>
          </a:xfrm>
          <a:prstGeom prst="rect">
            <a:avLst/>
          </a:prstGeom>
          <a:noFill/>
        </p:spPr>
        <p:txBody>
          <a:bodyPr wrap="square" rtlCol="0">
            <a:spAutoFit/>
          </a:bodyPr>
          <a:lstStyle/>
          <a:p>
            <a:r>
              <a:rPr lang="en-US" b="1" dirty="0"/>
              <a:t>AICTE STU ID : STU6a13f8dd3f0c81779693789</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303723" y="1625006"/>
            <a:ext cx="6431280" cy="3607987"/>
          </a:xfrm>
        </p:spPr>
        <p:txBody>
          <a:bodyPr vert="horz" lIns="91440" tIns="45720" rIns="91440" bIns="45720" rtlCol="0" anchor="t">
            <a:normAutofit fontScale="62500" lnSpcReduction="20000"/>
          </a:bodyPr>
          <a:lstStyle/>
          <a:p>
            <a:pPr algn="just">
              <a:lnSpc>
                <a:spcPct val="100000"/>
              </a:lnSpc>
            </a:pPr>
            <a:r>
              <a:rPr lang="en-US" sz="2800" dirty="0"/>
              <a:t>Agricultural activities are influenced by seasonal variations in environmental conditions, farming practices, resource availability and market conditions. </a:t>
            </a:r>
          </a:p>
          <a:p>
            <a:pPr algn="just">
              <a:lnSpc>
                <a:spcPct val="100000"/>
              </a:lnSpc>
            </a:pPr>
            <a:r>
              <a:rPr lang="en-US" sz="2800" dirty="0"/>
              <a:t>As a result, agricultural performance may differ from one season to another. However, raw agricultural data does not clearly explain how agricultural performance changes across seasons or what patterns can be observed in different seasonal conditions. </a:t>
            </a:r>
          </a:p>
          <a:p>
            <a:pPr algn="just">
              <a:lnSpc>
                <a:spcPct val="100000"/>
              </a:lnSpc>
            </a:pPr>
            <a:r>
              <a:rPr lang="en-US" sz="2800" dirty="0"/>
              <a:t>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303723" y="834895"/>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1185539"/>
            <a:ext cx="6276109" cy="830997"/>
          </a:xfrm>
        </p:spPr>
        <p:txBody>
          <a:bodyPr>
            <a:noAutofit/>
          </a:bodyPr>
          <a:lstStyle/>
          <a:p>
            <a:r>
              <a:rPr lang="en-GB" sz="4300" dirty="0"/>
              <a:t>Project Description</a:t>
            </a:r>
            <a:br>
              <a:rPr lang="en-GB" sz="4300" dirty="0"/>
            </a:br>
            <a:br>
              <a:rPr lang="en-GB" sz="2000" dirty="0"/>
            </a:br>
            <a:endParaRPr lang="en-IN" sz="1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88C941FA-42E1-C7BB-6741-01196FB0C2D1}"/>
              </a:ext>
            </a:extLst>
          </p:cNvPr>
          <p:cNvSpPr txBox="1"/>
          <p:nvPr/>
        </p:nvSpPr>
        <p:spPr>
          <a:xfrm>
            <a:off x="467359" y="2016536"/>
            <a:ext cx="10919931" cy="4247317"/>
          </a:xfrm>
          <a:prstGeom prst="rect">
            <a:avLst/>
          </a:prstGeom>
          <a:noFill/>
        </p:spPr>
        <p:txBody>
          <a:bodyPr wrap="square" rtlCol="0">
            <a:spAutoFit/>
          </a:bodyPr>
          <a:lstStyle/>
          <a:p>
            <a:pPr algn="just"/>
            <a:r>
              <a:rPr lang="en-US" dirty="0"/>
              <a:t>Seasonal Agriculture Performance Analysis is a data analytics project that examines the performance of agriculture during different agricultural seasons, crops, irrigation methods and environment. The data set includes 4000 agricultural data points and 28 attributes, and the project aims to uncover meaningful patterns and relationships in agricultural production.</a:t>
            </a:r>
          </a:p>
          <a:p>
            <a:pPr algn="just"/>
            <a:endParaRPr lang="en-US" dirty="0"/>
          </a:p>
          <a:p>
            <a:pPr algn="just"/>
            <a:r>
              <a:rPr lang="en-US" dirty="0"/>
              <a:t>Analysis is conducted on the important performance indicators like crop yield, production, profit and water utilization and includes other factors like rainfall, soil moisture status, temperature, fertilizer use, farm area, season and irrigation method. Exploratory data analysis was conducted after applying data preprocessing techniques like missing value imputation and outlier analysis.</a:t>
            </a:r>
          </a:p>
          <a:p>
            <a:pPr algn="just"/>
            <a:endParaRPr lang="en-US" dirty="0"/>
          </a:p>
          <a:p>
            <a:pPr algn="just"/>
            <a:r>
              <a:rPr lang="en-US" dirty="0"/>
              <a:t>This project relies on graphic tools created in Python, Pandas, NumPy, Matplotlib, and Seaborn to make comparisons on agricultural performance. The outcomes enable the recognition of better yields of crops, better irrigation techniques, seasonal trends and differences in water-use efficiency. These insights can help in improved crop selection, irrigation planning, resource allocation and seasonal agricultural decision making.</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935798"/>
            <a:ext cx="10046070" cy="591576"/>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E4F7FE3E-75E3-E81C-FE0C-5C99666BD6BF}"/>
              </a:ext>
            </a:extLst>
          </p:cNvPr>
          <p:cNvSpPr>
            <a:spLocks noGrp="1" noChangeArrowheads="1"/>
          </p:cNvSpPr>
          <p:nvPr>
            <p:ph type="body" sz="quarter" idx="12"/>
          </p:nvPr>
        </p:nvSpPr>
        <p:spPr bwMode="auto">
          <a:xfrm>
            <a:off x="818464" y="1527374"/>
            <a:ext cx="6189239"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Farmers</a:t>
            </a:r>
            <a:r>
              <a:rPr kumimoji="0" lang="en-US" altLang="en-US" sz="1800" b="0" i="0" u="none" strike="noStrike" cap="none" normalizeH="0" baseline="0" dirty="0">
                <a:ln>
                  <a:noFill/>
                </a:ln>
                <a:solidFill>
                  <a:schemeClr val="tx1"/>
                </a:solidFill>
                <a:effectLst/>
                <a:latin typeface="Arial" panose="020B0604020202020204" pitchFamily="34" charset="0"/>
              </a:rPr>
              <a:t> – To choose suitable crops, irrigation methods, and seasonal farming strategies.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Agricultural Officers</a:t>
            </a:r>
            <a:r>
              <a:rPr kumimoji="0" lang="en-US" altLang="en-US" sz="1800" b="0" i="0" u="none" strike="noStrike" cap="none" normalizeH="0" baseline="0" dirty="0">
                <a:ln>
                  <a:noFill/>
                </a:ln>
                <a:solidFill>
                  <a:schemeClr val="tx1"/>
                </a:solidFill>
                <a:effectLst/>
                <a:latin typeface="Arial" panose="020B0604020202020204" pitchFamily="34" charset="0"/>
              </a:rPr>
              <a:t> – To analyze regional agricultural performance and plan resource allocation.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Agricultural Researchers</a:t>
            </a:r>
            <a:r>
              <a:rPr kumimoji="0" lang="en-US" altLang="en-US" sz="1800" b="0" i="0" u="none" strike="noStrike" cap="none" normalizeH="0" baseline="0" dirty="0">
                <a:ln>
                  <a:noFill/>
                </a:ln>
                <a:solidFill>
                  <a:schemeClr val="tx1"/>
                </a:solidFill>
                <a:effectLst/>
                <a:latin typeface="Arial" panose="020B0604020202020204" pitchFamily="34" charset="0"/>
              </a:rPr>
              <a:t> – To study relationships between environmental factors and crop productivity.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Agribusinesses</a:t>
            </a:r>
            <a:r>
              <a:rPr kumimoji="0" lang="en-US" altLang="en-US" sz="1800" b="0" i="0" u="none" strike="noStrike" cap="none" normalizeH="0" baseline="0" dirty="0">
                <a:ln>
                  <a:noFill/>
                </a:ln>
                <a:solidFill>
                  <a:schemeClr val="tx1"/>
                </a:solidFill>
                <a:effectLst/>
                <a:latin typeface="Arial" panose="020B0604020202020204" pitchFamily="34" charset="0"/>
              </a:rPr>
              <a:t> – To understand crop profitability, production, and resource efficiency.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Government &amp; Policy Makers</a:t>
            </a:r>
            <a:r>
              <a:rPr kumimoji="0" lang="en-US" altLang="en-US" sz="1800" b="0" i="0" u="none" strike="noStrike" cap="none" normalizeH="0" baseline="0" dirty="0">
                <a:ln>
                  <a:noFill/>
                </a:ln>
                <a:solidFill>
                  <a:schemeClr val="tx1"/>
                </a:solidFill>
                <a:effectLst/>
                <a:latin typeface="Arial" panose="020B0604020202020204" pitchFamily="34" charset="0"/>
              </a:rPr>
              <a:t> – To support data-driven agricultural planning and policy decisions.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Agricultural Consultants</a:t>
            </a:r>
            <a:r>
              <a:rPr kumimoji="0" lang="en-US" altLang="en-US" sz="1800" b="0" i="0" u="none" strike="noStrike" cap="none" normalizeH="0" baseline="0" dirty="0">
                <a:ln>
                  <a:noFill/>
                </a:ln>
                <a:solidFill>
                  <a:schemeClr val="tx1"/>
                </a:solidFill>
                <a:effectLst/>
                <a:latin typeface="Arial" panose="020B0604020202020204" pitchFamily="34" charset="0"/>
              </a:rPr>
              <a:t> – To provide recommendations for improving yield, profitability, and water-use efficiency. </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159362" y="1278384"/>
            <a:ext cx="9027702" cy="5243448"/>
          </a:xfrm>
        </p:spPr>
        <p:txBody>
          <a:bodyPr/>
          <a:lstStyle/>
          <a:p>
            <a:r>
              <a:rPr lang="en-IN" b="1" dirty="0"/>
              <a:t>Python</a:t>
            </a:r>
            <a:r>
              <a:rPr lang="en-IN" dirty="0"/>
              <a:t> – Main programming language for data analysis. </a:t>
            </a:r>
          </a:p>
          <a:p>
            <a:r>
              <a:rPr lang="en-IN" b="1" dirty="0"/>
              <a:t>Google </a:t>
            </a:r>
            <a:r>
              <a:rPr lang="en-IN" b="1" dirty="0" err="1"/>
              <a:t>Colab</a:t>
            </a:r>
            <a:r>
              <a:rPr lang="en-IN" dirty="0"/>
              <a:t> – Development and execution environment. </a:t>
            </a:r>
          </a:p>
          <a:p>
            <a:r>
              <a:rPr lang="en-IN" b="1" dirty="0"/>
              <a:t>Pandas</a:t>
            </a:r>
            <a:r>
              <a:rPr lang="en-IN" dirty="0"/>
              <a:t> – Data loading, cleaning, and manipulation. </a:t>
            </a:r>
          </a:p>
          <a:p>
            <a:r>
              <a:rPr lang="en-IN" b="1" dirty="0"/>
              <a:t>NumPy</a:t>
            </a:r>
            <a:r>
              <a:rPr lang="en-IN" dirty="0"/>
              <a:t> – Numerical and statistical operations. </a:t>
            </a:r>
          </a:p>
          <a:p>
            <a:r>
              <a:rPr lang="en-IN" b="1" dirty="0"/>
              <a:t>Matplotlib</a:t>
            </a:r>
            <a:r>
              <a:rPr lang="en-IN" dirty="0"/>
              <a:t> – Data visualization and chart generation. </a:t>
            </a:r>
          </a:p>
          <a:p>
            <a:r>
              <a:rPr lang="en-IN" b="1" dirty="0"/>
              <a:t>Seaborn</a:t>
            </a:r>
            <a:r>
              <a:rPr lang="en-IN" dirty="0"/>
              <a:t> – Statistical visualizations and heatmaps. </a:t>
            </a:r>
          </a:p>
          <a:p>
            <a:r>
              <a:rPr lang="en-IN" b="1" dirty="0" err="1"/>
              <a:t>Jupyter</a:t>
            </a:r>
            <a:r>
              <a:rPr lang="en-IN" b="1" dirty="0"/>
              <a:t> Notebook (.</a:t>
            </a:r>
            <a:r>
              <a:rPr lang="en-IN" b="1" dirty="0" err="1"/>
              <a:t>ipynb</a:t>
            </a:r>
            <a:r>
              <a:rPr lang="en-IN" b="1" dirty="0"/>
              <a:t>)</a:t>
            </a:r>
            <a:r>
              <a:rPr lang="en-IN" dirty="0"/>
              <a:t> – Project analysis and documentation format. </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31" name="TextBox 30"/>
          <p:cNvSpPr txBox="1"/>
          <p:nvPr/>
        </p:nvSpPr>
        <p:spPr>
          <a:xfrm>
            <a:off x="594360" y="1078992"/>
            <a:ext cx="10972800" cy="438912"/>
          </a:xfrm>
          <a:prstGeom prst="rect">
            <a:avLst/>
          </a:prstGeom>
          <a:noFill/>
        </p:spPr>
        <p:txBody>
          <a:bodyPr wrap="none">
            <a:spAutoFit/>
          </a:bodyPr>
          <a:lstStyle/>
          <a:p>
            <a:pPr algn="ctr"/>
            <a:r>
              <a:rPr sz="2100" b="1"/>
              <a:t>Missing Values Analysis</a:t>
            </a:r>
          </a:p>
        </p:txBody>
      </p:sp>
      <p:pic>
        <p:nvPicPr>
          <p:cNvPr id="32" name="Picture 31" descr="cell_26.png"/>
          <p:cNvPicPr>
            <a:picLocks noChangeAspect="1"/>
          </p:cNvPicPr>
          <p:nvPr/>
        </p:nvPicPr>
        <p:blipFill>
          <a:blip r:embed="rId3"/>
          <a:stretch>
            <a:fillRect/>
          </a:stretch>
        </p:blipFill>
        <p:spPr>
          <a:xfrm>
            <a:off x="731520" y="1600200"/>
            <a:ext cx="10698480" cy="3794760"/>
          </a:xfrm>
          <a:prstGeom prst="rect">
            <a:avLst/>
          </a:prstGeom>
        </p:spPr>
      </p:pic>
      <p:sp>
        <p:nvSpPr>
          <p:cNvPr id="33" name="Rounded Rectangle 32"/>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Missing observations were concentrated in Rainfall (48), Soil Moisture (40) and Yield (32); preprocessing removed the remaining missing values.</a:t>
            </a:r>
          </a:p>
        </p:txBody>
      </p:sp>
    </p:spTree>
    <p:extLst>
      <p:ext uri="{BB962C8B-B14F-4D97-AF65-F5344CB8AC3E}">
        <p14:creationId xmlns:p14="http://schemas.microsoft.com/office/powerpoint/2010/main" val="1698901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31" name="TextBox 30"/>
          <p:cNvSpPr txBox="1"/>
          <p:nvPr/>
        </p:nvSpPr>
        <p:spPr>
          <a:xfrm>
            <a:off x="594360" y="1078992"/>
            <a:ext cx="10972800" cy="438912"/>
          </a:xfrm>
          <a:prstGeom prst="rect">
            <a:avLst/>
          </a:prstGeom>
          <a:noFill/>
        </p:spPr>
        <p:txBody>
          <a:bodyPr wrap="none">
            <a:spAutoFit/>
          </a:bodyPr>
          <a:lstStyle/>
          <a:p>
            <a:pPr algn="ctr"/>
            <a:r>
              <a:rPr sz="2100" b="1"/>
              <a:t>Season, Crop &amp; Irrigation Distribution</a:t>
            </a:r>
          </a:p>
        </p:txBody>
      </p:sp>
      <p:pic>
        <p:nvPicPr>
          <p:cNvPr id="32" name="Picture 31" descr="cell_46.png"/>
          <p:cNvPicPr>
            <a:picLocks noChangeAspect="1"/>
          </p:cNvPicPr>
          <p:nvPr/>
        </p:nvPicPr>
        <p:blipFill>
          <a:blip r:embed="rId3"/>
          <a:stretch>
            <a:fillRect/>
          </a:stretch>
        </p:blipFill>
        <p:spPr>
          <a:xfrm>
            <a:off x="640080" y="1600200"/>
            <a:ext cx="3566160" cy="3474720"/>
          </a:xfrm>
          <a:prstGeom prst="rect">
            <a:avLst/>
          </a:prstGeom>
        </p:spPr>
      </p:pic>
      <p:pic>
        <p:nvPicPr>
          <p:cNvPr id="33" name="Picture 32" descr="cell_50.png"/>
          <p:cNvPicPr>
            <a:picLocks noChangeAspect="1"/>
          </p:cNvPicPr>
          <p:nvPr/>
        </p:nvPicPr>
        <p:blipFill>
          <a:blip r:embed="rId4"/>
          <a:stretch>
            <a:fillRect/>
          </a:stretch>
        </p:blipFill>
        <p:spPr>
          <a:xfrm>
            <a:off x="4343400" y="1600200"/>
            <a:ext cx="3566160" cy="3474720"/>
          </a:xfrm>
          <a:prstGeom prst="rect">
            <a:avLst/>
          </a:prstGeom>
        </p:spPr>
      </p:pic>
      <p:pic>
        <p:nvPicPr>
          <p:cNvPr id="34" name="Picture 33" descr="cell_54.png"/>
          <p:cNvPicPr>
            <a:picLocks noChangeAspect="1"/>
          </p:cNvPicPr>
          <p:nvPr/>
        </p:nvPicPr>
        <p:blipFill>
          <a:blip r:embed="rId5"/>
          <a:stretch>
            <a:fillRect/>
          </a:stretch>
        </p:blipFill>
        <p:spPr>
          <a:xfrm>
            <a:off x="8046720" y="1600200"/>
            <a:ext cx="3566160" cy="3474720"/>
          </a:xfrm>
          <a:prstGeom prst="rect">
            <a:avLst/>
          </a:prstGeom>
        </p:spPr>
      </p:pic>
      <p:sp>
        <p:nvSpPr>
          <p:cNvPr id="35" name="Rounded Rectangle 34"/>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Kharif is the most represented season; Rice is the largest crop category; Flood irrigation is the most common method.</a:t>
            </a:r>
          </a:p>
        </p:txBody>
      </p:sp>
    </p:spTree>
    <p:extLst>
      <p:ext uri="{BB962C8B-B14F-4D97-AF65-F5344CB8AC3E}">
        <p14:creationId xmlns:p14="http://schemas.microsoft.com/office/powerpoint/2010/main" val="1903979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31" name="TextBox 30"/>
          <p:cNvSpPr txBox="1"/>
          <p:nvPr/>
        </p:nvSpPr>
        <p:spPr>
          <a:xfrm>
            <a:off x="594360" y="1078992"/>
            <a:ext cx="10972800" cy="438912"/>
          </a:xfrm>
          <a:prstGeom prst="rect">
            <a:avLst/>
          </a:prstGeom>
          <a:noFill/>
        </p:spPr>
        <p:txBody>
          <a:bodyPr wrap="none">
            <a:spAutoFit/>
          </a:bodyPr>
          <a:lstStyle/>
          <a:p>
            <a:pPr algn="ctr"/>
            <a:r>
              <a:rPr sz="2100" b="1"/>
              <a:t>Yield, Profit &amp; Water Usage Distributions</a:t>
            </a:r>
          </a:p>
        </p:txBody>
      </p:sp>
      <p:pic>
        <p:nvPicPr>
          <p:cNvPr id="32" name="Picture 31" descr="cell_58.png"/>
          <p:cNvPicPr>
            <a:picLocks noChangeAspect="1"/>
          </p:cNvPicPr>
          <p:nvPr/>
        </p:nvPicPr>
        <p:blipFill>
          <a:blip r:embed="rId3"/>
          <a:stretch>
            <a:fillRect/>
          </a:stretch>
        </p:blipFill>
        <p:spPr>
          <a:xfrm>
            <a:off x="640080" y="1600200"/>
            <a:ext cx="3566160" cy="3474720"/>
          </a:xfrm>
          <a:prstGeom prst="rect">
            <a:avLst/>
          </a:prstGeom>
        </p:spPr>
      </p:pic>
      <p:pic>
        <p:nvPicPr>
          <p:cNvPr id="33" name="Picture 32" descr="cell_62.png"/>
          <p:cNvPicPr>
            <a:picLocks noChangeAspect="1"/>
          </p:cNvPicPr>
          <p:nvPr/>
        </p:nvPicPr>
        <p:blipFill>
          <a:blip r:embed="rId4"/>
          <a:stretch>
            <a:fillRect/>
          </a:stretch>
        </p:blipFill>
        <p:spPr>
          <a:xfrm>
            <a:off x="4343400" y="1600200"/>
            <a:ext cx="3566160" cy="3474720"/>
          </a:xfrm>
          <a:prstGeom prst="rect">
            <a:avLst/>
          </a:prstGeom>
        </p:spPr>
      </p:pic>
      <p:pic>
        <p:nvPicPr>
          <p:cNvPr id="34" name="Picture 33" descr="cell_66.png"/>
          <p:cNvPicPr>
            <a:picLocks noChangeAspect="1"/>
          </p:cNvPicPr>
          <p:nvPr/>
        </p:nvPicPr>
        <p:blipFill>
          <a:blip r:embed="rId5"/>
          <a:stretch>
            <a:fillRect/>
          </a:stretch>
        </p:blipFill>
        <p:spPr>
          <a:xfrm>
            <a:off x="8046720" y="1600200"/>
            <a:ext cx="3566160" cy="3474720"/>
          </a:xfrm>
          <a:prstGeom prst="rect">
            <a:avLst/>
          </a:prstGeom>
        </p:spPr>
      </p:pic>
      <p:sp>
        <p:nvSpPr>
          <p:cNvPr id="35" name="Rounded Rectangle 34"/>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Yield, profit and water-use distributions are right-skewed, indicating substantial variation across farms.</a:t>
            </a:r>
          </a:p>
        </p:txBody>
      </p:sp>
    </p:spTree>
    <p:extLst>
      <p:ext uri="{BB962C8B-B14F-4D97-AF65-F5344CB8AC3E}">
        <p14:creationId xmlns:p14="http://schemas.microsoft.com/office/powerpoint/2010/main" val="1421522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32" name="Rounded Rectangle 31"/>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4,000 records • 28 variables • Covers crop, season, environmental, irrigation, production, profit and water-use variables.</a:t>
            </a:r>
          </a:p>
        </p:txBody>
      </p:sp>
      <p:sp>
        <p:nvSpPr>
          <p:cNvPr id="33" name="TextBox 32"/>
          <p:cNvSpPr txBox="1"/>
          <p:nvPr/>
        </p:nvSpPr>
        <p:spPr>
          <a:xfrm>
            <a:off x="594360" y="1078992"/>
            <a:ext cx="10972800" cy="438912"/>
          </a:xfrm>
          <a:prstGeom prst="rect">
            <a:avLst/>
          </a:prstGeom>
          <a:noFill/>
        </p:spPr>
        <p:txBody>
          <a:bodyPr wrap="none">
            <a:spAutoFit/>
          </a:bodyPr>
          <a:lstStyle/>
          <a:p>
            <a:pPr algn="ctr"/>
            <a:r>
              <a:rPr sz="2100" b="1"/>
              <a:t>Crop-wise Yield</a:t>
            </a:r>
          </a:p>
        </p:txBody>
      </p:sp>
      <p:pic>
        <p:nvPicPr>
          <p:cNvPr id="34" name="Picture 33" descr="cell_83.png"/>
          <p:cNvPicPr>
            <a:picLocks noChangeAspect="1"/>
          </p:cNvPicPr>
          <p:nvPr/>
        </p:nvPicPr>
        <p:blipFill>
          <a:blip r:embed="rId2"/>
          <a:stretch>
            <a:fillRect/>
          </a:stretch>
        </p:blipFill>
        <p:spPr>
          <a:xfrm>
            <a:off x="731520" y="1600200"/>
            <a:ext cx="10698480" cy="3794760"/>
          </a:xfrm>
          <a:prstGeom prst="rect">
            <a:avLst/>
          </a:prstGeom>
        </p:spPr>
      </p:pic>
      <p:sp>
        <p:nvSpPr>
          <p:cNvPr id="35" name="Rounded Rectangle 34"/>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Sugarcane has the highest average yield (46.64 tonnes/ha), while Pulses has the lowest (0.92 tonnes/ha).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32" name="Rounded Rectangle 31"/>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4,000 records • 28 variables • Covers crop, season, environmental, irrigation, production, profit and water-use variables.</a:t>
            </a:r>
          </a:p>
        </p:txBody>
      </p:sp>
      <p:sp>
        <p:nvSpPr>
          <p:cNvPr id="33" name="TextBox 32"/>
          <p:cNvSpPr txBox="1"/>
          <p:nvPr/>
        </p:nvSpPr>
        <p:spPr>
          <a:xfrm>
            <a:off x="594360" y="1078992"/>
            <a:ext cx="10972800" cy="438912"/>
          </a:xfrm>
          <a:prstGeom prst="rect">
            <a:avLst/>
          </a:prstGeom>
          <a:noFill/>
        </p:spPr>
        <p:txBody>
          <a:bodyPr wrap="none">
            <a:spAutoFit/>
          </a:bodyPr>
          <a:lstStyle/>
          <a:p>
            <a:pPr algn="ctr"/>
            <a:r>
              <a:rPr sz="2100" b="1"/>
              <a:t>Irrigation Method vs Yield</a:t>
            </a:r>
          </a:p>
        </p:txBody>
      </p:sp>
      <p:pic>
        <p:nvPicPr>
          <p:cNvPr id="34" name="Picture 33" descr="cell_91.png"/>
          <p:cNvPicPr>
            <a:picLocks noChangeAspect="1"/>
          </p:cNvPicPr>
          <p:nvPr/>
        </p:nvPicPr>
        <p:blipFill>
          <a:blip r:embed="rId2"/>
          <a:stretch>
            <a:fillRect/>
          </a:stretch>
        </p:blipFill>
        <p:spPr>
          <a:xfrm>
            <a:off x="731520" y="1600200"/>
            <a:ext cx="10698480" cy="3794760"/>
          </a:xfrm>
          <a:prstGeom prst="rect">
            <a:avLst/>
          </a:prstGeom>
        </p:spPr>
      </p:pic>
      <p:sp>
        <p:nvSpPr>
          <p:cNvPr id="35" name="Rounded Rectangle 34"/>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Average yield: Drip 6.58 • Sprinkler 5.16 • Flood 4.86 • Rainfed 4.60 tonnes/ha.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32" name="Rounded Rectangle 31"/>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4,000 records • 28 variables • Covers crop, season, environmental, irrigation, production, profit and water-use variables.</a:t>
            </a:r>
          </a:p>
        </p:txBody>
      </p:sp>
      <p:sp>
        <p:nvSpPr>
          <p:cNvPr id="33" name="TextBox 32"/>
          <p:cNvSpPr txBox="1"/>
          <p:nvPr/>
        </p:nvSpPr>
        <p:spPr>
          <a:xfrm>
            <a:off x="594360" y="1078992"/>
            <a:ext cx="10972800" cy="438912"/>
          </a:xfrm>
          <a:prstGeom prst="rect">
            <a:avLst/>
          </a:prstGeom>
          <a:noFill/>
        </p:spPr>
        <p:txBody>
          <a:bodyPr wrap="none">
            <a:spAutoFit/>
          </a:bodyPr>
          <a:lstStyle/>
          <a:p>
            <a:pPr algn="ctr"/>
            <a:r>
              <a:rPr sz="2100" b="1"/>
              <a:t>Environmental Factors vs Yield</a:t>
            </a:r>
          </a:p>
        </p:txBody>
      </p:sp>
      <p:pic>
        <p:nvPicPr>
          <p:cNvPr id="34" name="Picture 33" descr="cell_95.png"/>
          <p:cNvPicPr>
            <a:picLocks noChangeAspect="1"/>
          </p:cNvPicPr>
          <p:nvPr/>
        </p:nvPicPr>
        <p:blipFill>
          <a:blip r:embed="rId2"/>
          <a:stretch>
            <a:fillRect/>
          </a:stretch>
        </p:blipFill>
        <p:spPr>
          <a:xfrm>
            <a:off x="640080" y="1600200"/>
            <a:ext cx="3566160" cy="3474720"/>
          </a:xfrm>
          <a:prstGeom prst="rect">
            <a:avLst/>
          </a:prstGeom>
        </p:spPr>
      </p:pic>
      <p:pic>
        <p:nvPicPr>
          <p:cNvPr id="35" name="Picture 34" descr="cell_99.png"/>
          <p:cNvPicPr>
            <a:picLocks noChangeAspect="1"/>
          </p:cNvPicPr>
          <p:nvPr/>
        </p:nvPicPr>
        <p:blipFill>
          <a:blip r:embed="rId3"/>
          <a:stretch>
            <a:fillRect/>
          </a:stretch>
        </p:blipFill>
        <p:spPr>
          <a:xfrm>
            <a:off x="4343400" y="1600200"/>
            <a:ext cx="3566160" cy="3474720"/>
          </a:xfrm>
          <a:prstGeom prst="rect">
            <a:avLst/>
          </a:prstGeom>
        </p:spPr>
      </p:pic>
      <p:pic>
        <p:nvPicPr>
          <p:cNvPr id="36" name="Picture 35" descr="cell_103.png"/>
          <p:cNvPicPr>
            <a:picLocks noChangeAspect="1"/>
          </p:cNvPicPr>
          <p:nvPr/>
        </p:nvPicPr>
        <p:blipFill>
          <a:blip r:embed="rId4"/>
          <a:stretch>
            <a:fillRect/>
          </a:stretch>
        </p:blipFill>
        <p:spPr>
          <a:xfrm>
            <a:off x="8046720" y="1600200"/>
            <a:ext cx="3566160" cy="3474720"/>
          </a:xfrm>
          <a:prstGeom prst="rect">
            <a:avLst/>
          </a:prstGeom>
        </p:spPr>
      </p:pic>
      <p:sp>
        <p:nvSpPr>
          <p:cNvPr id="37" name="Rounded Rectangle 36"/>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Rainfall, temperature and soil moisture each show very weak linear relationships with yield in this dataset.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32" name="Rounded Rectangle 31"/>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4,000 records • 28 variables • Covers crop, season, environmental, irrigation, production, profit and water-use variables.</a:t>
            </a:r>
          </a:p>
        </p:txBody>
      </p:sp>
      <p:sp>
        <p:nvSpPr>
          <p:cNvPr id="33" name="TextBox 32"/>
          <p:cNvSpPr txBox="1"/>
          <p:nvPr/>
        </p:nvSpPr>
        <p:spPr>
          <a:xfrm>
            <a:off x="594360" y="1078992"/>
            <a:ext cx="10972800" cy="438912"/>
          </a:xfrm>
          <a:prstGeom prst="rect">
            <a:avLst/>
          </a:prstGeom>
          <a:noFill/>
        </p:spPr>
        <p:txBody>
          <a:bodyPr wrap="none">
            <a:spAutoFit/>
          </a:bodyPr>
          <a:lstStyle/>
          <a:p>
            <a:pPr algn="ctr"/>
            <a:r>
              <a:rPr sz="2100" b="1"/>
              <a:t>Production, Profit &amp; Water Usage Relationships</a:t>
            </a:r>
          </a:p>
        </p:txBody>
      </p:sp>
      <p:pic>
        <p:nvPicPr>
          <p:cNvPr id="34" name="Picture 33" descr="cell_107.png"/>
          <p:cNvPicPr>
            <a:picLocks noChangeAspect="1"/>
          </p:cNvPicPr>
          <p:nvPr/>
        </p:nvPicPr>
        <p:blipFill>
          <a:blip r:embed="rId2"/>
          <a:stretch>
            <a:fillRect/>
          </a:stretch>
        </p:blipFill>
        <p:spPr>
          <a:xfrm>
            <a:off x="640080" y="1600200"/>
            <a:ext cx="3566160" cy="3474720"/>
          </a:xfrm>
          <a:prstGeom prst="rect">
            <a:avLst/>
          </a:prstGeom>
        </p:spPr>
      </p:pic>
      <p:pic>
        <p:nvPicPr>
          <p:cNvPr id="35" name="Picture 34" descr="cell_111.png"/>
          <p:cNvPicPr>
            <a:picLocks noChangeAspect="1"/>
          </p:cNvPicPr>
          <p:nvPr/>
        </p:nvPicPr>
        <p:blipFill>
          <a:blip r:embed="rId3"/>
          <a:stretch>
            <a:fillRect/>
          </a:stretch>
        </p:blipFill>
        <p:spPr>
          <a:xfrm>
            <a:off x="4343400" y="1600200"/>
            <a:ext cx="3566160" cy="3474720"/>
          </a:xfrm>
          <a:prstGeom prst="rect">
            <a:avLst/>
          </a:prstGeom>
        </p:spPr>
      </p:pic>
      <p:pic>
        <p:nvPicPr>
          <p:cNvPr id="36" name="Picture 35" descr="cell_115.png"/>
          <p:cNvPicPr>
            <a:picLocks noChangeAspect="1"/>
          </p:cNvPicPr>
          <p:nvPr/>
        </p:nvPicPr>
        <p:blipFill>
          <a:blip r:embed="rId4"/>
          <a:stretch>
            <a:fillRect/>
          </a:stretch>
        </p:blipFill>
        <p:spPr>
          <a:xfrm>
            <a:off x="8046720" y="1600200"/>
            <a:ext cx="3566160" cy="3474720"/>
          </a:xfrm>
          <a:prstGeom prst="rect">
            <a:avLst/>
          </a:prstGeom>
        </p:spPr>
      </p:pic>
      <p:sp>
        <p:nvSpPr>
          <p:cNvPr id="37" name="Rounded Rectangle 36"/>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Production–profit correlation ≈ 0.55; water-use–production correlation ≈ 0.52; crop profitability varies strongly.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32" name="Rounded Rectangle 31"/>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4,000 records • 28 variables • Covers crop, season, environmental, irrigation, production, profit and water-use variables.</a:t>
            </a:r>
          </a:p>
        </p:txBody>
      </p:sp>
      <p:sp>
        <p:nvSpPr>
          <p:cNvPr id="33" name="TextBox 32"/>
          <p:cNvSpPr txBox="1"/>
          <p:nvPr/>
        </p:nvSpPr>
        <p:spPr>
          <a:xfrm>
            <a:off x="594360" y="1078992"/>
            <a:ext cx="10972800" cy="438912"/>
          </a:xfrm>
          <a:prstGeom prst="rect">
            <a:avLst/>
          </a:prstGeom>
          <a:noFill/>
        </p:spPr>
        <p:txBody>
          <a:bodyPr wrap="none">
            <a:spAutoFit/>
          </a:bodyPr>
          <a:lstStyle/>
          <a:p>
            <a:pPr algn="ctr"/>
            <a:r>
              <a:rPr sz="2100" b="1"/>
              <a:t>Water-use Efficiency by Crop</a:t>
            </a:r>
          </a:p>
        </p:txBody>
      </p:sp>
      <p:pic>
        <p:nvPicPr>
          <p:cNvPr id="34" name="Picture 33" descr="cell_123.png"/>
          <p:cNvPicPr>
            <a:picLocks noChangeAspect="1"/>
          </p:cNvPicPr>
          <p:nvPr/>
        </p:nvPicPr>
        <p:blipFill>
          <a:blip r:embed="rId2"/>
          <a:stretch>
            <a:fillRect/>
          </a:stretch>
        </p:blipFill>
        <p:spPr>
          <a:xfrm>
            <a:off x="731520" y="1600200"/>
            <a:ext cx="10698480" cy="3794760"/>
          </a:xfrm>
          <a:prstGeom prst="rect">
            <a:avLst/>
          </a:prstGeom>
        </p:spPr>
      </p:pic>
      <p:sp>
        <p:nvSpPr>
          <p:cNvPr id="35" name="Rounded Rectangle 34"/>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Sugarcane has the highest observed water-use efficiency (30.48 tonnes/1,000 m³), substantially above the other crops.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32" name="Rounded Rectangle 31"/>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4,000 records • 28 variables • Covers crop, season, environmental, irrigation, production, profit and water-use variables.</a:t>
            </a:r>
          </a:p>
        </p:txBody>
      </p:sp>
      <p:sp>
        <p:nvSpPr>
          <p:cNvPr id="33" name="TextBox 32"/>
          <p:cNvSpPr txBox="1"/>
          <p:nvPr/>
        </p:nvSpPr>
        <p:spPr>
          <a:xfrm>
            <a:off x="594360" y="1078992"/>
            <a:ext cx="10972800" cy="438912"/>
          </a:xfrm>
          <a:prstGeom prst="rect">
            <a:avLst/>
          </a:prstGeom>
          <a:noFill/>
        </p:spPr>
        <p:txBody>
          <a:bodyPr wrap="none">
            <a:spAutoFit/>
          </a:bodyPr>
          <a:lstStyle/>
          <a:p>
            <a:pPr algn="ctr"/>
            <a:r>
              <a:rPr sz="2100" b="1"/>
              <a:t>Crop × Season &amp; Season × Irrigation</a:t>
            </a:r>
          </a:p>
        </p:txBody>
      </p:sp>
      <p:pic>
        <p:nvPicPr>
          <p:cNvPr id="34" name="Picture 33" descr="cell_127.png"/>
          <p:cNvPicPr>
            <a:picLocks noChangeAspect="1"/>
          </p:cNvPicPr>
          <p:nvPr/>
        </p:nvPicPr>
        <p:blipFill>
          <a:blip r:embed="rId2"/>
          <a:stretch>
            <a:fillRect/>
          </a:stretch>
        </p:blipFill>
        <p:spPr>
          <a:xfrm>
            <a:off x="640080" y="1600200"/>
            <a:ext cx="5303520" cy="3794760"/>
          </a:xfrm>
          <a:prstGeom prst="rect">
            <a:avLst/>
          </a:prstGeom>
        </p:spPr>
      </p:pic>
      <p:pic>
        <p:nvPicPr>
          <p:cNvPr id="35" name="Picture 34" descr="cell_131.png"/>
          <p:cNvPicPr>
            <a:picLocks noChangeAspect="1"/>
          </p:cNvPicPr>
          <p:nvPr/>
        </p:nvPicPr>
        <p:blipFill>
          <a:blip r:embed="rId3"/>
          <a:stretch>
            <a:fillRect/>
          </a:stretch>
        </p:blipFill>
        <p:spPr>
          <a:xfrm>
            <a:off x="6172200" y="1600200"/>
            <a:ext cx="5303520" cy="3794760"/>
          </a:xfrm>
          <a:prstGeom prst="rect">
            <a:avLst/>
          </a:prstGeom>
        </p:spPr>
      </p:pic>
      <p:sp>
        <p:nvSpPr>
          <p:cNvPr id="36" name="Rounded Rectangle 35"/>
          <p:cNvSpPr/>
          <p:nvPr/>
        </p:nvSpPr>
        <p:spPr>
          <a:xfrm>
            <a:off x="685800" y="5532120"/>
            <a:ext cx="10835640" cy="621792"/>
          </a:xfrm>
          <a:prstGeom prst="roundRect">
            <a:avLst/>
          </a:prstGeom>
          <a:noFill/>
          <a:ln w="12700"/>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t>Yield changes with both crop and season, and irrigation performance also varies by season—showing the value of interaction analysis.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BCBB37A8-0E0B-868B-E711-8FCCE1DD1C9A}"/>
              </a:ext>
            </a:extLst>
          </p:cNvPr>
          <p:cNvSpPr txBox="1"/>
          <p:nvPr/>
        </p:nvSpPr>
        <p:spPr>
          <a:xfrm>
            <a:off x="675957" y="855100"/>
            <a:ext cx="9916517" cy="5632311"/>
          </a:xfrm>
          <a:prstGeom prst="rect">
            <a:avLst/>
          </a:prstGeom>
          <a:noFill/>
        </p:spPr>
        <p:txBody>
          <a:bodyPr wrap="square" rtlCol="0">
            <a:spAutoFit/>
          </a:bodyPr>
          <a:lstStyle/>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Predictive Modeling – Develop machine learning models to predict crop yield and profitability.</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Real-Time Data Integration – Incorporate live weather, rainfall, soil moisture, and market-price data.</a:t>
            </a:r>
          </a:p>
          <a:p>
            <a:pPr algn="just"/>
            <a:r>
              <a:rPr lang="en-US" dirty="0"/>
              <a:t> </a:t>
            </a:r>
          </a:p>
          <a:p>
            <a:pPr marL="285750" indent="-285750" algn="just">
              <a:buFont typeface="Arial" panose="020B0604020202020204" pitchFamily="34" charset="0"/>
              <a:buChar char="•"/>
            </a:pPr>
            <a:r>
              <a:rPr lang="en-US" dirty="0"/>
              <a:t>Crop Recommendation System – Recommend suitable crops based on season, soil, climate, and available resources.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Smart Irrigation – Develop an intelligent system to recommend optimal irrigation methods and water requirements.</a:t>
            </a:r>
          </a:p>
          <a:p>
            <a:pPr algn="just"/>
            <a:endParaRPr lang="en-US" dirty="0"/>
          </a:p>
          <a:p>
            <a:pPr marL="285750" indent="-285750" algn="just">
              <a:buFont typeface="Arial" panose="020B0604020202020204" pitchFamily="34" charset="0"/>
              <a:buChar char="•"/>
            </a:pPr>
            <a:r>
              <a:rPr lang="en-US" dirty="0"/>
              <a:t>Regional Analysis – Extend the analysis to different states, regions, and soil types.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Interactive Dashboard – Build a dashboard using tools such as Power BI or </a:t>
            </a:r>
            <a:r>
              <a:rPr lang="en-US" dirty="0" err="1"/>
              <a:t>Streamlit</a:t>
            </a:r>
            <a:r>
              <a:rPr lang="en-US" dirty="0"/>
              <a:t> for real-time agricultural insights.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Advanced Optimization – Optimize crop selection, water usage, fertilizer application, and expected profit.</a:t>
            </a: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1081332" y="2598003"/>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79DD321B-0F26-F953-57A1-85D944C54942}"/>
              </a:ext>
            </a:extLst>
          </p:cNvPr>
          <p:cNvSpPr txBox="1"/>
          <p:nvPr/>
        </p:nvSpPr>
        <p:spPr>
          <a:xfrm>
            <a:off x="1081332" y="3282155"/>
            <a:ext cx="9872283" cy="369332"/>
          </a:xfrm>
          <a:prstGeom prst="rect">
            <a:avLst/>
          </a:prstGeom>
          <a:noFill/>
        </p:spPr>
        <p:txBody>
          <a:bodyPr wrap="square" rtlCol="0">
            <a:spAutoFit/>
          </a:bodyPr>
          <a:lstStyle/>
          <a:p>
            <a:r>
              <a:rPr lang="en-IN" dirty="0"/>
              <a:t>https://github.com/Mubasheermohd18/Seasonal_Agriculture_Performance_Analysis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400827" y="181922"/>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8A69B3C-B6CA-2990-0074-9AE743762614}"/>
              </a:ext>
            </a:extLst>
          </p:cNvPr>
          <p:cNvPicPr>
            <a:picLocks noChangeAspect="1"/>
          </p:cNvPicPr>
          <p:nvPr/>
        </p:nvPicPr>
        <p:blipFill>
          <a:blip r:embed="rId3"/>
          <a:stretch>
            <a:fillRect/>
          </a:stretch>
        </p:blipFill>
        <p:spPr>
          <a:xfrm>
            <a:off x="675956" y="1275371"/>
            <a:ext cx="9487639" cy="491075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3149741"/>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1396</TotalTime>
  <Words>983</Words>
  <Application>Microsoft Office PowerPoint</Application>
  <PresentationFormat>Widescreen</PresentationFormat>
  <Paragraphs>89</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Trebuchet MS</vt:lpstr>
      <vt:lpstr>Wingdings</vt:lpstr>
      <vt:lpstr>Wingdings 3</vt:lpstr>
      <vt:lpstr>Facet</vt:lpstr>
      <vt:lpstr>Project Title - Seasonal_Agriculture_Performance_Analysis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Mohammed Mubasheeruddin</cp:lastModifiedBy>
  <cp:revision>99</cp:revision>
  <dcterms:created xsi:type="dcterms:W3CDTF">2021-07-11T13:13:15Z</dcterms:created>
  <dcterms:modified xsi:type="dcterms:W3CDTF">2026-09-10T11:27:16Z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